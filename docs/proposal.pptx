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417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1A1AA"/>
                </a:solidFill>
                <a:latin typeface="맑은 고딕"/>
              </a:defRPr>
            </a:pPr>
            <a:r>
              <a:t>사내 코딩 어시스턴트 도입 방식 검토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AFAFA"/>
                </a:solidFill>
                <a:latin typeface="맑은 고딕"/>
              </a:defRPr>
            </a:pPr>
            <a:r>
              <a:t>벡터 RAG + 웹 UI 방식의 한계와</a:t>
            </a:r>
            <a:br/>
            <a:r>
              <a:t>구조 기반 MCP 방식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9E0B"/>
                </a:solidFill>
                <a:latin typeface="맑은 고딕"/>
              </a:defRPr>
            </a:pPr>
            <a:r>
              <a:t>Pro*C / ProFrame 코드베이스에 최적화된 접근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89120"/>
            <a:ext cx="2743200" cy="45720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44348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맑은 고딕"/>
              </a:defRPr>
            </a:pPr>
            <a:r>
              <a:t>PoC 비교 검증 완료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맑은 고딕"/>
              </a:defRPr>
            </a:pPr>
            <a:r>
              <a:t>2026.03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AFAFA"/>
                </a:solidFill>
                <a:latin typeface="맑은 고딕"/>
              </a:defRPr>
            </a:pPr>
            <a: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JetBrains Mono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AFAFA"/>
                </a:solidFill>
                <a:latin typeface="맑은 고딕"/>
              </a:defRPr>
            </a:pPr>
            <a:r>
              <a:t>현재 제안 검토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20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맑은 고딕"/>
              </a:defRPr>
            </a:pPr>
            <a:r>
              <a:t>벡터 RAG + 웹 UI 코딩 어시스턴트 방식의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JetBrains Mono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AFAFA"/>
                </a:solidFill>
                <a:latin typeface="맑은 고딕"/>
              </a:defRPr>
            </a:pPr>
            <a:r>
              <a:t>Pro*C 환경에서의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560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맑은 고딕"/>
              </a:defRPr>
            </a:pPr>
            <a:r>
              <a:t>벡터 RAG가 Pro*C 코드베이스에서 왜 작동하지 않는가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26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JetBrains Mono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926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AFAFA"/>
                </a:solidFill>
                <a:latin typeface="맑은 고딕"/>
              </a:defRPr>
            </a:pPr>
            <a:r>
              <a:t>대안: 구조 기반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맑은 고딕"/>
              </a:defRPr>
            </a:pPr>
            <a:r>
              <a:t>ProFrame의 구조 정보를 그대로 활용하는 접근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56615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JetBrains Mono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56615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AFAFA"/>
                </a:solidFill>
                <a:latin typeface="맑은 고딕"/>
              </a:defRPr>
            </a:pPr>
            <a:r>
              <a:t>PoC 비교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84047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맑은 고딕"/>
              </a:defRPr>
            </a:pPr>
            <a:r>
              <a:t>동일 코드베이스에서 두 방식 정량 비교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JetBrains Mono"/>
              </a:defRPr>
            </a:pPr>
            <a: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206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AFAFA"/>
                </a:solidFill>
                <a:latin typeface="맑은 고딕"/>
              </a:defRPr>
            </a:pPr>
            <a:r>
              <a:t>구조 기반 방식의 실제 동작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4805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맑은 고딕"/>
              </a:defRPr>
            </a:pPr>
            <a:r>
              <a:t>개발자 시나리오별 시연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463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JetBrains Mono"/>
              </a:defRPr>
            </a:pPr>
            <a: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846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AFAFA"/>
                </a:solidFill>
                <a:latin typeface="맑은 고딕"/>
              </a:defRPr>
            </a:pPr>
            <a:r>
              <a:t>도입 방안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5120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맑은 고딕"/>
              </a:defRPr>
            </a:pPr>
            <a:r>
              <a:t>구현 복잡도, 비용, 유지보수 비교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8639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JetBrains Mono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548639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AFAFA"/>
                </a:solidFill>
                <a:latin typeface="맑은 고딕"/>
              </a:defRPr>
            </a:pPr>
            <a:r>
              <a:t>제안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76071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맑은 고딕"/>
              </a:defRPr>
            </a:pPr>
            <a:r>
              <a:t>권장 접근 방식 및 다음 단계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AFAFA"/>
                </a:solidFill>
                <a:latin typeface="맑은 고딕"/>
              </a:defRPr>
            </a:pPr>
            <a:r>
              <a:t>현재 제안 검토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맑은 고딕"/>
              </a:defRPr>
            </a:pPr>
            <a:r>
              <a:t>벡터 RAG + 별도 웹 UI 코딩 어시스턴트를 구축하는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846320" cy="3593592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44805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맑은 고딕"/>
              </a:defRPr>
            </a:pPr>
            <a:r>
              <a:t>제안된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1. 코드를 텍스트 청크로 분할 (6~50줄)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79192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2. 임베딩 모델로 벡터화 → 벡터 DB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35224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3. 사용자 질문 → 유사도 검색 → 관련 청크 반환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91256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4. LLM이 청크 기반으로 답변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47288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5. 별도 웹 UI에서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703320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959352"/>
            <a:ext cx="44805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rPr b="1" dirty="0" err="1"/>
              <a:t>필요</a:t>
            </a:r>
            <a:r>
              <a:rPr b="1" dirty="0"/>
              <a:t> </a:t>
            </a:r>
            <a:r>
              <a:rPr b="1" dirty="0" err="1"/>
              <a:t>인프라</a:t>
            </a:r>
            <a:r>
              <a:rPr b="1" dirty="0"/>
              <a:t>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215384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• 임베딩 모델 (GPU 또는 API)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71416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• 벡터 DB (ChromaDB / Pinecone 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727448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• 웹 서버 + 프론트엔드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83480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rPr dirty="0"/>
              <a:t>  • LLM API </a:t>
            </a:r>
            <a:r>
              <a:rPr dirty="0" err="1"/>
              <a:t>연동</a:t>
            </a:r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6400800" y="1920240"/>
            <a:ext cx="4846320" cy="3593592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2057400"/>
            <a:ext cx="44805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  <a:latin typeface="맑은 고딕"/>
              </a:defRPr>
            </a:pPr>
            <a:r>
              <a:t>이 방식의 전제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23160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코드가 자연어 텍스트처럼 작동한다고 가정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79192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→ 유사한 단어 = 유사한 기능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935224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0" y="3191256"/>
            <a:ext cx="44805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rPr b="1" dirty="0"/>
              <a:t>이 </a:t>
            </a:r>
            <a:r>
              <a:rPr b="1" dirty="0" err="1"/>
              <a:t>전제가</a:t>
            </a:r>
            <a:r>
              <a:rPr b="1" dirty="0"/>
              <a:t> </a:t>
            </a:r>
            <a:r>
              <a:rPr b="1" dirty="0" err="1"/>
              <a:t>맞는</a:t>
            </a:r>
            <a:r>
              <a:rPr b="1" dirty="0"/>
              <a:t> </a:t>
            </a:r>
            <a:r>
              <a:rPr b="1" dirty="0" err="1"/>
              <a:t>경우</a:t>
            </a:r>
            <a:r>
              <a:rPr b="1" dirty="0"/>
              <a:t>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447288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• 일반 텍스트 문서 검색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703320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rPr dirty="0"/>
              <a:t>  • </a:t>
            </a:r>
            <a:r>
              <a:rPr dirty="0" err="1"/>
              <a:t>다양한</a:t>
            </a:r>
            <a:r>
              <a:rPr dirty="0"/>
              <a:t> </a:t>
            </a:r>
            <a:r>
              <a:rPr dirty="0" err="1"/>
              <a:t>언어</a:t>
            </a:r>
            <a:r>
              <a:rPr dirty="0"/>
              <a:t>/</a:t>
            </a:r>
            <a:r>
              <a:rPr dirty="0" err="1"/>
              <a:t>프레임워크의</a:t>
            </a:r>
            <a:r>
              <a:rPr dirty="0"/>
              <a:t> </a:t>
            </a:r>
            <a:r>
              <a:rPr dirty="0" err="1"/>
              <a:t>오픈소스</a:t>
            </a:r>
            <a:r>
              <a:rPr dirty="0"/>
              <a:t> </a:t>
            </a:r>
            <a:r>
              <a:rPr dirty="0" err="1"/>
              <a:t>코드</a:t>
            </a:r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6583680" y="3959352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• 함수명/변수명이 자기 설명적인 코드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15384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0" y="4471416"/>
            <a:ext cx="44805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rPr b="1" dirty="0"/>
              <a:t>이 </a:t>
            </a:r>
            <a:r>
              <a:rPr b="1" dirty="0" err="1"/>
              <a:t>전제가</a:t>
            </a:r>
            <a:r>
              <a:rPr b="1" dirty="0"/>
              <a:t> </a:t>
            </a:r>
            <a:r>
              <a:rPr b="1" dirty="0" err="1"/>
              <a:t>틀리는</a:t>
            </a:r>
            <a:r>
              <a:rPr b="1" dirty="0"/>
              <a:t> </a:t>
            </a:r>
            <a:r>
              <a:rPr b="1" dirty="0" err="1"/>
              <a:t>경우</a:t>
            </a:r>
            <a:r>
              <a:rPr b="1" dirty="0"/>
              <a:t>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27448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• 같은 변수명이 다른 도메인에서 반복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983480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• 비즈니스 로직이 SQL에 있는 코드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239512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• 호출 관계가 코드 텍스트에 드러나지 않는 코드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5702105"/>
            <a:ext cx="10332720" cy="91440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5976425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  <a:latin typeface="맑은 고딕"/>
              </a:defRPr>
            </a:pPr>
            <a:r>
              <a:rPr dirty="0" err="1"/>
              <a:t>질문</a:t>
            </a:r>
            <a:r>
              <a:rPr dirty="0"/>
              <a:t>: Pro*C/</a:t>
            </a:r>
            <a:r>
              <a:rPr dirty="0" err="1"/>
              <a:t>ProFrame</a:t>
            </a:r>
            <a:r>
              <a:rPr dirty="0"/>
              <a:t> </a:t>
            </a:r>
            <a:r>
              <a:rPr dirty="0" err="1"/>
              <a:t>코드베이스가</a:t>
            </a:r>
            <a:r>
              <a:rPr dirty="0"/>
              <a:t> 이 </a:t>
            </a:r>
            <a:r>
              <a:rPr dirty="0" err="1"/>
              <a:t>전제에</a:t>
            </a:r>
            <a:r>
              <a:rPr dirty="0"/>
              <a:t> </a:t>
            </a:r>
            <a:r>
              <a:rPr dirty="0" err="1"/>
              <a:t>맞는가</a:t>
            </a:r>
            <a:r>
              <a:rPr dirty="0"/>
              <a:t>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AFAFA"/>
                </a:solidFill>
                <a:latin typeface="맑은 고딕"/>
              </a:defRPr>
            </a:pPr>
            <a:r>
              <a:t>Pro*C 환경에서 벡터 RAG의 한계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20116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맑은 고딕"/>
              </a:defRPr>
            </a:pPr>
            <a:r>
              <a:t>문제 1: 노이즈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tax_amt, acct_no, fee_rate,</a:t>
            </a:r>
            <a:br/>
            <a:r>
              <a:t>HOLD_QTY, EVAL_AMT ...</a:t>
            </a:r>
            <a:br/>
            <a:br/>
            <a:r>
              <a:t>이 변수명들이 주식, 채권, 펀드,</a:t>
            </a:r>
            <a:br/>
            <a:r>
              <a:t>배당, 대출 등 모든 도메인에서</a:t>
            </a:r>
            <a:br/>
            <a:r>
              <a:t>동일하게 사용됨.</a:t>
            </a:r>
            <a:br/>
            <a:br/>
            <a:r>
              <a:t>→ 벡터 유사도가 높지만</a:t>
            </a:r>
            <a:br/>
            <a:r>
              <a:t>   실제로는 무관한 코드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00400" cy="20116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맑은 고딕"/>
              </a:defRPr>
            </a:pPr>
            <a:r>
              <a:t>문제 2: 컨텍스트 단절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4884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Pro*C 함수를 이해하려면:</a:t>
            </a:r>
            <a:br/>
            <a:r>
              <a:t>  • 호출하는 다른 함수</a:t>
            </a:r>
            <a:br/>
            <a:r>
              <a:t>  • 입출력 구조체 (struct)</a:t>
            </a:r>
            <a:br/>
            <a:r>
              <a:t>  • 참조 테이블 DDL</a:t>
            </a:r>
            <a:br/>
            <a:br/>
            <a:r>
              <a:t>이 모두 다른 파일에 있음.</a:t>
            </a:r>
            <a:br/>
            <a:r>
              <a:t>청크 검색은 한 파일의 조각만</a:t>
            </a:r>
            <a:br/>
            <a:r>
              <a:t>반환하므로 전체 그림이 안 보임.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645920"/>
            <a:ext cx="3383280" cy="20116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맑은 고딕"/>
              </a:defRPr>
            </a:pPr>
            <a:r>
              <a:t>문제 3: 구조 낭비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14884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ProFrame이 이미 제공하는 것:</a:t>
            </a:r>
            <a:br/>
            <a:r>
              <a:t>  • 서비스 등록 정보 (이름, 설명)</a:t>
            </a:r>
            <a:br/>
            <a:r>
              <a:t>  • FDL (입출력 구조체 정의)</a:t>
            </a:r>
            <a:br/>
            <a:r>
              <a:t>  • EXECUTE_SERVICE (호출 관계)</a:t>
            </a:r>
            <a:br/>
            <a:br/>
            <a:r>
              <a:t>벡터 RAG는 이 구조 정보를</a:t>
            </a:r>
            <a:br/>
            <a:r>
              <a:t>전부 무시하고 코드를 텍스트</a:t>
            </a:r>
            <a:br/>
            <a:r>
              <a:t>조각으로 취급함.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23360"/>
            <a:ext cx="10332720" cy="73152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06908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맑은 고딕"/>
              </a:defRPr>
            </a:pPr>
            <a:r>
              <a:t>Pro*C/ProFrame 코드베이스의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3891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4D4D8"/>
                </a:solidFill>
                <a:latin typeface="맑은 고딕"/>
              </a:defRPr>
            </a:pPr>
            <a:r>
              <a:t>C + SQL 혼합  |  동일 변수명이 도메인 간 반복  |  비즈니스 로직 = EXEC SQL  |  ProFrame이 이미 구조화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AFAFA"/>
                </a:solidFill>
                <a:latin typeface="맑은 고딕"/>
              </a:defRPr>
            </a:pPr>
            <a:r>
              <a:t>결론: 구조화된 코드에 비정형 텍스트 검색을 적용하는 것은</a:t>
            </a:r>
            <a:br/>
            <a:r>
              <a:t>엑셀 테이블이 있는데 자연어로 검색하는 것과 같다.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AFAFA"/>
                </a:solidFill>
                <a:latin typeface="맑은 고딕"/>
              </a:defRPr>
            </a:pPr>
            <a:r>
              <a:t>대안: 구조 기반 MCP + 기존 AI 코딩 도구 활용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645920"/>
            <a:ext cx="45720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0" y="16916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9090B"/>
                </a:solidFill>
                <a:latin typeface="맑은 고딕"/>
              </a:defRPr>
            </a:pPr>
            <a:r>
              <a:t>Claude Code (기존 AI 코딩 도구)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743200"/>
            <a:ext cx="3200400" cy="146304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맑은 고딕"/>
              </a:defRPr>
            </a:pPr>
            <a:r>
              <a:t>svn-bridge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1A1AA"/>
                </a:solidFill>
                <a:latin typeface="맑은 고딕"/>
              </a:defRPr>
            </a:pPr>
            <a:r>
              <a:t>SVN 이력 조회</a:t>
            </a:r>
            <a:br/>
            <a:r>
              <a:t>커밋 로그, diff, blame</a:t>
            </a:r>
            <a:br/>
            <a:r>
              <a:t>코드 읽기 (svn_cat)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743200"/>
            <a:ext cx="3200400" cy="146304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8346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맑은 고딕"/>
              </a:defRPr>
            </a:pPr>
            <a:r>
              <a:t>proc-retrieval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20040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1A1AA"/>
                </a:solidFill>
                <a:latin typeface="맑은 고딕"/>
              </a:defRPr>
            </a:pPr>
            <a:r>
              <a:t>코드 구조 검색 (10개 Tool)</a:t>
            </a:r>
            <a:br/>
            <a:r>
              <a:t>호출 그래프, 영향도, 업무 흐름</a:t>
            </a:r>
            <a:br/>
            <a:r>
              <a:t>SQLite 경량 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743200"/>
            <a:ext cx="3017520" cy="146304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2834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2C55E"/>
                </a:solidFill>
                <a:latin typeface="맑은 고딕"/>
              </a:defRPr>
            </a:pPr>
            <a:r>
              <a:rPr dirty="0"/>
              <a:t>Read / Edit (</a:t>
            </a:r>
            <a:r>
              <a:rPr dirty="0" err="1"/>
              <a:t>내장</a:t>
            </a:r>
            <a:r>
              <a:rPr dirty="0"/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0040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1A1AA"/>
                </a:solidFill>
                <a:latin typeface="맑은 고딕"/>
              </a:defRPr>
            </a:pP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파일</a:t>
            </a:r>
            <a:r>
              <a:rPr dirty="0"/>
              <a:t> </a:t>
            </a:r>
            <a:r>
              <a:rPr dirty="0" err="1"/>
              <a:t>읽기</a:t>
            </a:r>
            <a:r>
              <a:rPr dirty="0"/>
              <a:t>/</a:t>
            </a:r>
            <a:r>
              <a:rPr dirty="0" err="1"/>
              <a:t>수정</a:t>
            </a:r>
            <a:br>
              <a:rPr dirty="0"/>
            </a:br>
            <a:r>
              <a:rPr dirty="0"/>
              <a:t>Claude Code </a:t>
            </a:r>
            <a:r>
              <a:rPr dirty="0" err="1"/>
              <a:t>내장</a:t>
            </a:r>
            <a:r>
              <a:rPr dirty="0"/>
              <a:t> </a:t>
            </a:r>
            <a:r>
              <a:rPr dirty="0" err="1"/>
              <a:t>기능</a:t>
            </a:r>
            <a:br>
              <a:rPr dirty="0"/>
            </a:br>
            <a:r>
              <a:rPr dirty="0"/>
              <a:t>Repo 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접근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4572000"/>
            <a:ext cx="5029200" cy="164592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6634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핵심 차이점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• 별도 웹 UI 개발 불필요 → Claude Code가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248656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• 임베딩 모델/GPU 불필요 → SQLite 파일 1개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46811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• 코드를 청크로 자르지 않음 → 구조 그대로 활용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687568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• MCP는 경로만 반환 → 코드는 repo에서 직접 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907024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• ProFrame 구조 정보를 100% 활용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4572000"/>
            <a:ext cx="4846320" cy="164592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0A5FA"/>
                </a:solidFill>
                <a:latin typeface="맑은 고딕"/>
              </a:defRPr>
            </a:pPr>
            <a:r>
              <a:t>MCP(Model Context Protocol)란?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0292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AI 코딩 도구가 외부 데이터 소스에</a:t>
            </a:r>
            <a:br/>
            <a:r>
              <a:t>접근할 수 있게 해주는 표준 프로토콜.</a:t>
            </a:r>
            <a:br/>
            <a:br/>
            <a:r>
              <a:t>Claude Code, Cursor, Windsurf 등</a:t>
            </a:r>
            <a:br/>
            <a:r>
              <a:t>주요 AI 코딩 도구가 지원.</a:t>
            </a:r>
            <a:br/>
            <a:br/>
            <a:r>
              <a:t>→ 한 번 만들면 여러 도구에서 사용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AFAFA"/>
                </a:solidFill>
                <a:latin typeface="맑은 고딕"/>
              </a:defRPr>
            </a:pPr>
            <a:r>
              <a:t>PoC 비교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맑은 고딕"/>
              </a:defRPr>
            </a:pPr>
            <a:r>
              <a:t>동일 코드베이스(128파일, 81함수)에서 10개 시나리오로 정량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2286000" cy="45720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1A1AA"/>
                </a:solidFill>
                <a:latin typeface="맑은 고딕"/>
              </a:defRPr>
            </a:pPr>
            <a:r>
              <a:t>지표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920240"/>
            <a:ext cx="2286000" cy="45720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91840" y="1965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맑은 고딕"/>
              </a:defRPr>
            </a:pPr>
            <a:r>
              <a:t>벡터 RAG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1920240"/>
            <a:ext cx="2286000" cy="45720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77840" y="1965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맑은 고딕"/>
              </a:defRPr>
            </a:pPr>
            <a:r>
              <a:t>구조 기반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920240"/>
            <a:ext cx="3657600" cy="45720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1A1AA"/>
                </a:solidFill>
                <a:latin typeface="맑은 고딕"/>
              </a:defRPr>
            </a:pPr>
            <a:r>
              <a:t>의미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377440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Recall</a:t>
            </a:r>
            <a:br/>
            <a:r>
              <a:t>(정답을 찾았는가)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377440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9184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  <a:latin typeface="맑은 고딕"/>
              </a:defRPr>
            </a:pPr>
            <a:r>
              <a:t>40.0%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2377440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57784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맑은 고딕"/>
              </a:defRPr>
            </a:pPr>
            <a:r>
              <a:t>98.0%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377440"/>
            <a:ext cx="36576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6384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1A1AA"/>
                </a:solidFill>
                <a:latin typeface="맑은 고딕"/>
              </a:defRPr>
            </a:pPr>
            <a:r>
              <a:t>구조 기반이 2.5배 높은 정답률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3017520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31089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Noise</a:t>
            </a:r>
            <a:br/>
            <a:r>
              <a:t>(잘못된 결과 비율)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3017520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91840" y="31089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  <a:latin typeface="맑은 고딕"/>
              </a:defRPr>
            </a:pPr>
            <a:r>
              <a:t>22.0%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3017520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77840" y="31089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맑은 고딕"/>
              </a:defRPr>
            </a:pPr>
            <a:r>
              <a:t>0.6%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3017520"/>
            <a:ext cx="36576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0" y="3108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1A1AA"/>
                </a:solidFill>
                <a:latin typeface="맑은 고딕"/>
              </a:defRPr>
            </a:pPr>
            <a:r>
              <a:t>벡터는 노이즈가 5건 중 1건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657600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374903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Completeness</a:t>
            </a:r>
            <a:br/>
            <a:r>
              <a:t>(완전한 컨텍스트)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3657600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91840" y="374903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  <a:latin typeface="맑은 고딕"/>
              </a:defRPr>
            </a:pPr>
            <a:r>
              <a:t>52.5%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3657600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577840" y="374903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맑은 고딕"/>
              </a:defRPr>
            </a:pPr>
            <a:r>
              <a:t>97.5%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3657600"/>
            <a:ext cx="36576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0" y="37490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1A1AA"/>
                </a:solidFill>
                <a:latin typeface="맑은 고딕"/>
              </a:defRPr>
            </a:pPr>
            <a:r>
              <a:t>구조 기반은 호출함수+DDL까지 포함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297679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05840" y="438911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Precision</a:t>
            </a:r>
            <a:br/>
            <a:r>
              <a:t>(반환 중 정답 비율)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0" y="4297679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91840" y="438911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  <a:latin typeface="맑은 고딕"/>
              </a:defRPr>
            </a:pPr>
            <a:r>
              <a:t>34.0%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0" y="4297679"/>
            <a:ext cx="22860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577840" y="438911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맑은 고딕"/>
              </a:defRPr>
            </a:pPr>
            <a:r>
              <a:t>40.7%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4297679"/>
            <a:ext cx="3657600" cy="64008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0" y="438911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1A1AA"/>
                </a:solidFill>
                <a:latin typeface="맑은 고딕"/>
              </a:defRPr>
            </a:pPr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기반이</a:t>
            </a:r>
            <a:r>
              <a:rPr dirty="0"/>
              <a:t> </a:t>
            </a:r>
            <a:r>
              <a:rPr dirty="0" err="1"/>
              <a:t>유틸</a:t>
            </a:r>
            <a:r>
              <a:rPr dirty="0"/>
              <a:t> </a:t>
            </a:r>
            <a:r>
              <a:rPr dirty="0" err="1"/>
              <a:t>함수도</a:t>
            </a:r>
            <a:r>
              <a:rPr dirty="0"/>
              <a:t> </a:t>
            </a:r>
            <a:r>
              <a:rPr dirty="0" err="1"/>
              <a:t>포함해서</a:t>
            </a:r>
            <a:r>
              <a:rPr dirty="0"/>
              <a:t> </a:t>
            </a:r>
            <a:r>
              <a:rPr dirty="0" err="1"/>
              <a:t>비슷</a:t>
            </a:r>
            <a:endParaRPr dirty="0"/>
          </a:p>
        </p:txBody>
      </p:sp>
      <p:sp>
        <p:nvSpPr>
          <p:cNvPr id="45" name="Rounded Rectangle 44"/>
          <p:cNvSpPr/>
          <p:nvPr/>
        </p:nvSpPr>
        <p:spPr>
          <a:xfrm>
            <a:off x="914400" y="5029200"/>
            <a:ext cx="10332720" cy="118872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97280" y="507492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왜 이런 차이가 나는가?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486400"/>
            <a:ext cx="4572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rPr b="1" dirty="0" err="1"/>
              <a:t>벡터</a:t>
            </a:r>
            <a:r>
              <a:rPr b="1" dirty="0"/>
              <a:t> RAG:</a:t>
            </a:r>
            <a:br>
              <a:rPr dirty="0"/>
            </a:br>
            <a:r>
              <a:rPr dirty="0"/>
              <a:t>"</a:t>
            </a:r>
            <a:r>
              <a:rPr dirty="0" err="1"/>
              <a:t>환매</a:t>
            </a:r>
            <a:r>
              <a:rPr dirty="0"/>
              <a:t> </a:t>
            </a:r>
            <a:r>
              <a:rPr dirty="0" err="1"/>
              <a:t>수수료</a:t>
            </a:r>
            <a:r>
              <a:rPr dirty="0"/>
              <a:t> </a:t>
            </a:r>
            <a:r>
              <a:rPr dirty="0" err="1"/>
              <a:t>계산</a:t>
            </a:r>
            <a:r>
              <a:rPr dirty="0"/>
              <a:t>" </a:t>
            </a:r>
            <a:r>
              <a:rPr dirty="0" err="1"/>
              <a:t>검색</a:t>
            </a:r>
            <a:r>
              <a:rPr dirty="0"/>
              <a:t> → </a:t>
            </a:r>
            <a:r>
              <a:rPr dirty="0" err="1"/>
              <a:t>tax_amt</a:t>
            </a:r>
            <a:r>
              <a:rPr dirty="0"/>
              <a:t>, </a:t>
            </a:r>
            <a:r>
              <a:rPr dirty="0" err="1"/>
              <a:t>fee_rate</a:t>
            </a:r>
            <a:r>
              <a:rPr dirty="0"/>
              <a:t> 등</a:t>
            </a:r>
            <a:br>
              <a:rPr dirty="0"/>
            </a:br>
            <a:r>
              <a:rPr dirty="0" err="1"/>
              <a:t>유사</a:t>
            </a:r>
            <a:r>
              <a:rPr dirty="0"/>
              <a:t> </a:t>
            </a:r>
            <a:r>
              <a:rPr dirty="0" err="1"/>
              <a:t>변수명을</a:t>
            </a:r>
            <a:r>
              <a:rPr dirty="0"/>
              <a:t> </a:t>
            </a:r>
            <a:r>
              <a:rPr dirty="0" err="1"/>
              <a:t>가진</a:t>
            </a:r>
            <a:r>
              <a:rPr dirty="0"/>
              <a:t> </a:t>
            </a:r>
            <a:r>
              <a:rPr dirty="0" err="1"/>
              <a:t>채권</a:t>
            </a:r>
            <a:r>
              <a:rPr dirty="0"/>
              <a:t>/</a:t>
            </a:r>
            <a:r>
              <a:rPr dirty="0" err="1"/>
              <a:t>배당</a:t>
            </a:r>
            <a:r>
              <a:rPr dirty="0"/>
              <a:t>/</a:t>
            </a:r>
            <a:r>
              <a:rPr dirty="0" err="1"/>
              <a:t>대출</a:t>
            </a:r>
            <a:r>
              <a:rPr dirty="0"/>
              <a:t> </a:t>
            </a:r>
            <a:r>
              <a:rPr dirty="0" err="1"/>
              <a:t>코드가</a:t>
            </a:r>
            <a:r>
              <a:rPr dirty="0"/>
              <a:t> </a:t>
            </a:r>
            <a:r>
              <a:rPr dirty="0" err="1"/>
              <a:t>노이즈로</a:t>
            </a:r>
            <a:r>
              <a:rPr dirty="0"/>
              <a:t> </a:t>
            </a:r>
            <a:r>
              <a:rPr dirty="0" err="1"/>
              <a:t>반환</a:t>
            </a:r>
            <a:endParaRPr dirty="0"/>
          </a:p>
        </p:txBody>
      </p:sp>
      <p:sp>
        <p:nvSpPr>
          <p:cNvPr id="48" name="TextBox 47"/>
          <p:cNvSpPr txBox="1"/>
          <p:nvPr/>
        </p:nvSpPr>
        <p:spPr>
          <a:xfrm>
            <a:off x="5943600" y="5486400"/>
            <a:ext cx="50292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rPr b="1" dirty="0" err="1"/>
              <a:t>구조</a:t>
            </a:r>
            <a:r>
              <a:rPr b="1" dirty="0"/>
              <a:t> </a:t>
            </a:r>
            <a:r>
              <a:rPr b="1" dirty="0" err="1"/>
              <a:t>기반</a:t>
            </a:r>
            <a:r>
              <a:rPr b="1" dirty="0"/>
              <a:t>:</a:t>
            </a:r>
            <a:br>
              <a:rPr dirty="0"/>
            </a:br>
            <a:r>
              <a:rPr dirty="0"/>
              <a:t>"</a:t>
            </a:r>
            <a:r>
              <a:rPr dirty="0" err="1"/>
              <a:t>환매</a:t>
            </a:r>
            <a:r>
              <a:rPr dirty="0"/>
              <a:t> </a:t>
            </a:r>
            <a:r>
              <a:rPr dirty="0" err="1"/>
              <a:t>수수료</a:t>
            </a:r>
            <a:r>
              <a:rPr dirty="0"/>
              <a:t> </a:t>
            </a:r>
            <a:r>
              <a:rPr dirty="0" err="1"/>
              <a:t>계산</a:t>
            </a:r>
            <a:r>
              <a:rPr dirty="0"/>
              <a:t>" → RD_FEE_03 </a:t>
            </a:r>
            <a:r>
              <a:rPr dirty="0" err="1"/>
              <a:t>특정</a:t>
            </a:r>
            <a:br>
              <a:rPr dirty="0"/>
            </a:br>
            <a:r>
              <a:rPr dirty="0"/>
              <a:t>→ </a:t>
            </a:r>
            <a:r>
              <a:rPr dirty="0" err="1"/>
              <a:t>호출</a:t>
            </a:r>
            <a:r>
              <a:rPr dirty="0"/>
              <a:t> </a:t>
            </a:r>
            <a:r>
              <a:rPr dirty="0" err="1"/>
              <a:t>그래프</a:t>
            </a:r>
            <a:r>
              <a:rPr dirty="0"/>
              <a:t>(CM_TAX_01, CM_DATE_CHK) + DDL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확장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AFAFA"/>
                </a:solidFill>
                <a:latin typeface="맑은 고딕"/>
              </a:defRPr>
            </a:pPr>
            <a:r>
              <a:t>구조 기반 방식의 실제 동작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554480"/>
            <a:ext cx="10332720" cy="82296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600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FAFA"/>
                </a:solidFill>
                <a:latin typeface="맑은 고딕"/>
              </a:defRPr>
            </a:pPr>
            <a:r>
              <a:rPr dirty="0"/>
              <a:t>"이 </a:t>
            </a:r>
            <a:r>
              <a:rPr dirty="0" err="1"/>
              <a:t>함수</a:t>
            </a:r>
            <a:r>
              <a:rPr dirty="0"/>
              <a:t> </a:t>
            </a:r>
            <a:r>
              <a:rPr dirty="0" err="1"/>
              <a:t>수정하면</a:t>
            </a:r>
            <a:r>
              <a:rPr dirty="0"/>
              <a:t> </a:t>
            </a:r>
            <a:r>
              <a:rPr dirty="0" err="1"/>
              <a:t>영향</a:t>
            </a:r>
            <a:r>
              <a:rPr dirty="0"/>
              <a:t> </a:t>
            </a:r>
            <a:r>
              <a:rPr dirty="0" err="1"/>
              <a:t>어디</a:t>
            </a:r>
            <a:r>
              <a:rPr dirty="0"/>
              <a:t>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get_impact("CM_TAX_01")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7451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맑은 고딕"/>
              </a:defRPr>
            </a:pPr>
            <a:r>
              <a:rPr dirty="0"/>
              <a:t>→ 9개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호출자</a:t>
            </a:r>
            <a:r>
              <a:rPr dirty="0"/>
              <a:t> + 9개 </a:t>
            </a:r>
            <a:r>
              <a:rPr dirty="0" err="1"/>
              <a:t>간접</a:t>
            </a:r>
            <a:r>
              <a:rPr dirty="0"/>
              <a:t> </a:t>
            </a:r>
            <a:r>
              <a:rPr dirty="0" err="1"/>
              <a:t>호출자</a:t>
            </a:r>
            <a:br>
              <a:rPr dirty="0"/>
            </a:br>
            <a:r>
              <a:rPr dirty="0" err="1"/>
              <a:t>depth별</a:t>
            </a:r>
            <a:r>
              <a:rPr dirty="0"/>
              <a:t> </a:t>
            </a:r>
            <a:r>
              <a:rPr dirty="0" err="1"/>
              <a:t>영향</a:t>
            </a:r>
            <a:r>
              <a:rPr dirty="0"/>
              <a:t> </a:t>
            </a:r>
            <a:r>
              <a:rPr dirty="0" err="1"/>
              <a:t>범위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파악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914400" y="2514600"/>
            <a:ext cx="10332720" cy="82296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560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FAFA"/>
                </a:solidFill>
                <a:latin typeface="맑은 고딕"/>
              </a:defRPr>
            </a:pPr>
            <a:r>
              <a:rPr dirty="0"/>
              <a:t>"이 </a:t>
            </a:r>
            <a:r>
              <a:rPr dirty="0" err="1"/>
              <a:t>테이블</a:t>
            </a:r>
            <a:r>
              <a:rPr dirty="0"/>
              <a:t> </a:t>
            </a:r>
            <a:r>
              <a:rPr dirty="0" err="1"/>
              <a:t>누가</a:t>
            </a:r>
            <a:r>
              <a:rPr dirty="0"/>
              <a:t> </a:t>
            </a:r>
            <a:r>
              <a:rPr dirty="0" err="1"/>
              <a:t>쓰지</a:t>
            </a:r>
            <a:r>
              <a:rPr dirty="0"/>
              <a:t>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find_by_table("TB_ACCT_MST")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8346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맑은 고딕"/>
              </a:defRPr>
            </a:pPr>
            <a:r>
              <a:t>→ 14개 컬럼, SELECT/INSERT/UPDATE별</a:t>
            </a:r>
            <a:br/>
            <a:r>
              <a:t>사용 함수 목록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74720"/>
            <a:ext cx="10332720" cy="82296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5204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FAFA"/>
                </a:solidFill>
                <a:latin typeface="맑은 고딕"/>
              </a:defRPr>
            </a:pPr>
            <a:r>
              <a:t>"이 업무 전체 흐름 보여줘"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52043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get_business_flow("FD_PAY_01")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5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맑은 고딕"/>
              </a:defRPr>
            </a:pPr>
            <a:r>
              <a:t>→ 호출 트리 + 각 단계 SQL 연산</a:t>
            </a:r>
            <a:br/>
            <a:r>
              <a:t>(SELECT TB_FUND_DIST → FD_TAX_02 → ...)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434840"/>
            <a:ext cx="10332720" cy="82296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480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FAFA"/>
                </a:solidFill>
                <a:latin typeface="맑은 고딕"/>
              </a:defRPr>
            </a:pPr>
            <a:r>
              <a:t>"이 에러 어디서 나는 거야?"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480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find_by_error_code("E101")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754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맑은 고딕"/>
              </a:defRPr>
            </a:pPr>
            <a:r>
              <a:t>→ ST_BUY_01 "주문가능금액 부족"</a:t>
            </a:r>
            <a:br/>
            <a:r>
              <a:t>에러 설정 위치 + 주변 코드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394960"/>
            <a:ext cx="10332720" cy="82296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5440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FAFA"/>
                </a:solidFill>
                <a:latin typeface="맑은 고딕"/>
              </a:defRPr>
            </a:pPr>
            <a:r>
              <a:t>"이 함수 코드 수정해줘"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440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9E0B"/>
                </a:solidFill>
                <a:latin typeface="JetBrains Mono"/>
              </a:defRPr>
            </a:pPr>
            <a:r>
              <a:t>get_function → Read → Edit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715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맑은 고딕"/>
              </a:defRPr>
            </a:pPr>
            <a:r>
              <a:t>→ 구조 파악(MCP) → 코드 로드(Read)</a:t>
            </a:r>
            <a:br/>
            <a:r>
              <a:t>→ 수정(Edit) — 항상 최신 코드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AFAFA"/>
                </a:solidFill>
                <a:latin typeface="맑은 고딕"/>
              </a:defRPr>
            </a:pPr>
            <a:r>
              <a:t>도입 방안 비교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554480"/>
            <a:ext cx="2286000" cy="4114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1A1AA"/>
                </a:solidFill>
                <a:latin typeface="맑은 고딕"/>
              </a:defRPr>
            </a:pPr>
            <a:r>
              <a:t>항목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554480"/>
            <a:ext cx="3657600" cy="4114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6002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맑은 고딕"/>
              </a:defRPr>
            </a:pPr>
            <a:r>
              <a:t>벡터 RAG + 웹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554480"/>
            <a:ext cx="4389120" cy="4114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0" y="1600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2C55E"/>
                </a:solidFill>
                <a:latin typeface="맑은 고딕"/>
              </a:defRPr>
            </a:pPr>
            <a:r>
              <a:t>구조 기반 MCP +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965960"/>
            <a:ext cx="22860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0574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D4D8"/>
                </a:solidFill>
                <a:latin typeface="맑은 고딕"/>
              </a:defRPr>
            </a:pPr>
            <a:r>
              <a:t>UI 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1965960"/>
            <a:ext cx="36576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20574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  <a:latin typeface="맑은 고딕"/>
              </a:defRPr>
            </a:pPr>
            <a:r>
              <a:t>웹 프론트엔드 + 백엔드</a:t>
            </a:r>
            <a:br/>
            <a:r>
              <a:t>별도 구축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1965960"/>
            <a:ext cx="438912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49440" y="205740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맑은 고딕"/>
              </a:defRPr>
            </a:pPr>
            <a:r>
              <a:t>불필요</a:t>
            </a:r>
            <a:br/>
            <a:r>
              <a:t>Claude Code가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697480"/>
            <a:ext cx="22860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27889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D4D8"/>
                </a:solidFill>
                <a:latin typeface="맑은 고딕"/>
              </a:defRPr>
            </a:pPr>
            <a:r>
              <a:t>인프라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697480"/>
            <a:ext cx="36576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91840" y="27889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  <a:latin typeface="맑은 고딕"/>
              </a:defRPr>
            </a:pPr>
            <a:r>
              <a:t>임베딩 모델 (GPU/API)</a:t>
            </a:r>
            <a:br/>
            <a:r>
              <a:t>벡터 DB 서버</a:t>
            </a:r>
            <a:br/>
            <a:r>
              <a:t>웹 서버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2697480"/>
            <a:ext cx="438912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49440" y="27889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맑은 고딕"/>
              </a:defRPr>
            </a:pPr>
            <a:r>
              <a:t>SQLite 파일 1개</a:t>
            </a:r>
            <a:br/>
            <a:r>
              <a:t>(수 MB)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3429000"/>
            <a:ext cx="22860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3520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D4D8"/>
                </a:solidFill>
                <a:latin typeface="맑은 고딕"/>
              </a:defRPr>
            </a:pPr>
            <a:r>
              <a:t>코드 최신성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3429000"/>
            <a:ext cx="36576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91840" y="3520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  <a:latin typeface="맑은 고딕"/>
              </a:defRPr>
            </a:pPr>
            <a:r>
              <a:t>임베딩 재생성 필요</a:t>
            </a:r>
            <a:br/>
            <a:r>
              <a:t>(코드 변경 시마다)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429000"/>
            <a:ext cx="438912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49440" y="35204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맑은 고딕"/>
              </a:defRPr>
            </a:pPr>
            <a:r>
              <a:t>repo에서 직접 Read</a:t>
            </a:r>
            <a:br/>
            <a:r>
              <a:t>항상 최신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4160520"/>
            <a:ext cx="22860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5840" y="42519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D4D8"/>
                </a:solidFill>
                <a:latin typeface="맑은 고딕"/>
              </a:defRPr>
            </a:pPr>
            <a:r>
              <a:t>검색 정확도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0" y="4160520"/>
            <a:ext cx="36576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91840" y="4251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  <a:latin typeface="맑은 고딕"/>
              </a:defRPr>
            </a:pPr>
            <a:r>
              <a:t>Recall 40%</a:t>
            </a:r>
            <a:br/>
            <a:r>
              <a:t>Noise 22%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0" y="4160520"/>
            <a:ext cx="438912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949440" y="42519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맑은 고딕"/>
              </a:defRPr>
            </a:pPr>
            <a:r>
              <a:t>Recall 98%</a:t>
            </a:r>
            <a:br/>
            <a:r>
              <a:t>Noise 0.6%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4892040"/>
            <a:ext cx="22860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5840" y="498347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D4D8"/>
                </a:solidFill>
                <a:latin typeface="맑은 고딕"/>
              </a:defRPr>
            </a:pPr>
            <a:r>
              <a:t>유지보수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0" y="4892040"/>
            <a:ext cx="36576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  <a:latin typeface="맑은 고딕"/>
              </a:defRPr>
            </a:pPr>
            <a:r>
              <a:t>임베딩 모델 업데이트</a:t>
            </a:r>
            <a:br/>
            <a:r>
              <a:t>벡터 DB 관리</a:t>
            </a:r>
            <a:br/>
            <a:r>
              <a:t>웹 서버 운영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0" y="4892040"/>
            <a:ext cx="438912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949440" y="4983479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맑은 고딕"/>
              </a:defRPr>
            </a:pPr>
            <a:r>
              <a:t>SQLite 재인덱싱</a:t>
            </a:r>
            <a:br/>
            <a:r>
              <a:t>(수 초)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5623560"/>
            <a:ext cx="22860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7150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D4D8"/>
                </a:solidFill>
                <a:latin typeface="맑은 고딕"/>
              </a:defRPr>
            </a:pPr>
            <a:r>
              <a:t>구현 기간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00400" y="5623560"/>
            <a:ext cx="365760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91840" y="57150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  <a:latin typeface="맑은 고딕"/>
              </a:defRPr>
            </a:pPr>
            <a:r>
              <a:t>프론트 + 백엔드 + RAG</a:t>
            </a:r>
            <a:br/>
            <a:r>
              <a:t>파이프라인 = 수 개월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58000" y="5623560"/>
            <a:ext cx="4389120" cy="731520"/>
          </a:xfrm>
          <a:prstGeom prst="roundRect">
            <a:avLst/>
          </a:prstGeom>
          <a:solidFill>
            <a:srgbClr val="131316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49440" y="571500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맑은 고딕"/>
              </a:defRPr>
            </a:pPr>
            <a:r>
              <a:t>MCP 2개 + 파서</a:t>
            </a:r>
            <a:br/>
            <a:r>
              <a:t>= 4주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맑은 고딕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AFAFA"/>
                </a:solidFill>
                <a:latin typeface="맑은 고딕"/>
              </a:defRPr>
            </a:pPr>
            <a:r>
              <a:t>제안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32720" cy="10972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69164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D4D8"/>
                </a:solidFill>
                <a:latin typeface="맑은 고딕"/>
              </a:defRPr>
            </a:pPr>
            <a:r>
              <a:t>사내 코딩 어시스턴트 도입 시, 벡터 RAG + 별도 웹 UI 구축 대신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맑은 고딕"/>
              </a:defRPr>
            </a:pPr>
            <a:r>
              <a:t>ProFrame 구조 정보 기반 MCP 서버를 구축하고, 기존 AI 코딩 도구(Claude Code 등)와 연동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017520"/>
            <a:ext cx="4846320" cy="228600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154679"/>
            <a:ext cx="44805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맑은 고딕"/>
              </a:defRPr>
            </a:pPr>
            <a:r>
              <a:t>필요 리소스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39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개발자 1명 (파서 + MCP 구축, 3주)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76472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업무 시니어 1명 (서비스 설명 검토, 2~3일)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32504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4288536"/>
            <a:ext cx="44805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rPr b="1" dirty="0" err="1"/>
              <a:t>인프라</a:t>
            </a:r>
            <a:r>
              <a:rPr b="1" dirty="0"/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44568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SQLite 파일 1개 (수 MB)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800600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SVN 접근 권한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56632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  Claude Code 라이선스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312664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5568696"/>
            <a:ext cx="4480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불필요: GPU, 벡터 DB, 웹 서버, 프론트엔드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3017520"/>
            <a:ext cx="4846320" cy="228600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5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3108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C55E"/>
                </a:solidFill>
                <a:latin typeface="맑은 고딕"/>
              </a:defRPr>
            </a:pPr>
            <a:r>
              <a:t>구현 일정 (4주)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56616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JetBrains Mono"/>
              </a:defRPr>
            </a:pPr>
            <a:r>
              <a:t>1주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566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Pro*C 파서 개발</a:t>
            </a:r>
            <a:br/>
            <a:r>
              <a:t>실제 .pc 파일 파싱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977639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JetBrains Mono"/>
              </a:defRPr>
            </a:pPr>
            <a:r>
              <a:t>2주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9776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MCP 서버 구축</a:t>
            </a:r>
            <a:br/>
            <a:r>
              <a:t>proc-retrieval + svn-bridge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3891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JetBrains Mono"/>
              </a:defRPr>
            </a:pPr>
            <a:r>
              <a:t>3주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전체 코드베이스 인덱싱</a:t>
            </a:r>
            <a:br/>
            <a:r>
              <a:t>검색 정확도 튜닝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8006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JetBrains Mono"/>
              </a:defRPr>
            </a:pPr>
            <a:r>
              <a:t>4주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800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D4D8"/>
                </a:solidFill>
                <a:latin typeface="맑은 고딕"/>
              </a:defRPr>
            </a:pPr>
            <a:r>
              <a:t>Claude Code 연동</a:t>
            </a:r>
            <a:br/>
            <a:r>
              <a:t>개발자 파일럿 테스트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5577840"/>
            <a:ext cx="10332720" cy="73152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97280" y="562356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2C55E"/>
                </a:solidFill>
                <a:latin typeface="맑은 고딕"/>
              </a:defRPr>
            </a:pPr>
            <a:r>
              <a:t>다음 단계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94360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D4D8"/>
                </a:solidFill>
                <a:latin typeface="맑은 고딕"/>
              </a:defRPr>
            </a:pPr>
            <a:r>
              <a:rPr dirty="0"/>
              <a:t>1. </a:t>
            </a:r>
            <a:r>
              <a:rPr dirty="0" err="1"/>
              <a:t>실제</a:t>
            </a:r>
            <a:r>
              <a:rPr dirty="0"/>
              <a:t> Pro*C </a:t>
            </a:r>
            <a:r>
              <a:rPr dirty="0" err="1"/>
              <a:t>파일</a:t>
            </a:r>
            <a:r>
              <a:rPr dirty="0"/>
              <a:t> 10개로 </a:t>
            </a:r>
            <a:r>
              <a:rPr dirty="0" err="1"/>
              <a:t>파서</a:t>
            </a:r>
            <a:r>
              <a:rPr dirty="0"/>
              <a:t> </a:t>
            </a:r>
            <a:r>
              <a:rPr dirty="0" err="1"/>
              <a:t>검증</a:t>
            </a:r>
            <a:r>
              <a:rPr dirty="0"/>
              <a:t>    2. </a:t>
            </a:r>
            <a:r>
              <a:rPr dirty="0" err="1"/>
              <a:t>ProFrame</a:t>
            </a:r>
            <a:r>
              <a:rPr dirty="0"/>
              <a:t> </a:t>
            </a:r>
            <a:r>
              <a:rPr dirty="0" err="1"/>
              <a:t>서비스</a:t>
            </a:r>
            <a:r>
              <a:rPr dirty="0"/>
              <a:t> </a:t>
            </a:r>
            <a:r>
              <a:rPr dirty="0" err="1"/>
              <a:t>설명</a:t>
            </a:r>
            <a:r>
              <a:rPr dirty="0"/>
              <a:t> </a:t>
            </a:r>
            <a:r>
              <a:rPr dirty="0" err="1"/>
              <a:t>품질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    3. </a:t>
            </a:r>
            <a:r>
              <a:rPr dirty="0" err="1"/>
              <a:t>파일럿</a:t>
            </a:r>
            <a:r>
              <a:rPr dirty="0"/>
              <a:t> 팀 </a:t>
            </a:r>
            <a:r>
              <a:rPr dirty="0" err="1"/>
              <a:t>선정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1706</TotalTime>
  <Words>1341</Words>
  <Application>Microsoft Office PowerPoint</Application>
  <PresentationFormat>와이드스크린</PresentationFormat>
  <Paragraphs>170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유진 안</cp:lastModifiedBy>
  <cp:revision>2</cp:revision>
  <dcterms:created xsi:type="dcterms:W3CDTF">2013-01-27T09:14:16Z</dcterms:created>
  <dcterms:modified xsi:type="dcterms:W3CDTF">2026-03-30T13:47:36Z</dcterms:modified>
  <cp:category/>
</cp:coreProperties>
</file>